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by Geography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Germany</c:v>
                  </c:pt>
                  <c:pt idx="1">
                    <c:v>Spain</c:v>
                  </c:pt>
                  <c:pt idx="2">
                    <c:v>France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32.4</c:v>
                </c:pt>
                <c:pt idx="1">
                  <c:v>16.7</c:v>
                </c:pt>
                <c:pt idx="2">
                  <c:v>16.2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by # Products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4 Products</c:v>
                  </c:pt>
                  <c:pt idx="1">
                    <c:v>3 Products</c:v>
                  </c:pt>
                  <c:pt idx="2">
                    <c:v>1 Product</c:v>
                  </c:pt>
                  <c:pt idx="3">
                    <c:v>2 Products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82.7</c:v>
                </c:pt>
                <c:pt idx="2">
                  <c:v>27.7</c:v>
                </c:pt>
                <c:pt idx="3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Rate by Age Group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53E3E"/>
            </a:solidFill>
            <a:ln w="3810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56-65</c:v>
                  </c:pt>
                  <c:pt idx="5">
                    <c:v>66+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</c:v>
                </c:pt>
                <c:pt idx="1">
                  <c:v>13.4</c:v>
                </c:pt>
                <c:pt idx="2">
                  <c:v>19.1</c:v>
                </c:pt>
                <c:pt idx="3">
                  <c:v>29.8</c:v>
                </c:pt>
                <c:pt idx="4">
                  <c:v>35.2</c:v>
                </c:pt>
                <c:pt idx="5">
                  <c:v>22.1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by Balance Decile (U-Curve)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D1 (0)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28.1</c:v>
                </c:pt>
                <c:pt idx="1">
                  <c:v>18.3</c:v>
                </c:pt>
                <c:pt idx="2">
                  <c:v>16.9</c:v>
                </c:pt>
                <c:pt idx="3">
                  <c:v>15.7</c:v>
                </c:pt>
                <c:pt idx="4">
                  <c:v>14.2</c:v>
                </c:pt>
                <c:pt idx="5">
                  <c:v>14.8</c:v>
                </c:pt>
                <c:pt idx="6">
                  <c:v>15.3</c:v>
                </c:pt>
                <c:pt idx="7">
                  <c:v>16.7</c:v>
                </c:pt>
                <c:pt idx="8">
                  <c:v>19.1</c:v>
                </c:pt>
                <c:pt idx="9">
                  <c:v>26.4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Original 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Non-Churn (0)</c:v>
                  </c:pt>
                  <c:pt idx="1">
                    <c:v>Churn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7963</c:v>
                </c:pt>
                <c:pt idx="1">
                  <c:v>2037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2B5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After SMOTE + Undersampling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Non-Churn (0)</c:v>
                  </c:pt>
                  <c:pt idx="1">
                    <c:v>Churn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7963</c:v>
                </c:pt>
                <c:pt idx="1">
                  <c:v>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2B5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ROC Curve — Test Set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(AUC=0.901)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0.45</c:v>
                </c:pt>
                <c:pt idx="2">
                  <c:v>0.68</c:v>
                </c:pt>
                <c:pt idx="3">
                  <c:v>0.8</c:v>
                </c:pt>
                <c:pt idx="4">
                  <c:v>0.86</c:v>
                </c:pt>
                <c:pt idx="5">
                  <c:v>0.9</c:v>
                </c:pt>
                <c:pt idx="6">
                  <c:v>0.93</c:v>
                </c:pt>
                <c:pt idx="7">
                  <c:v>0.95</c:v>
                </c:pt>
                <c:pt idx="8">
                  <c:v>0.97</c:v>
                </c:pt>
                <c:pt idx="9">
                  <c:v>0.99</c:v>
                </c:pt>
                <c:pt idx="10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CCCCCC"/>
            </a:solidFill>
            <a:ln w="3810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Precision-Recall Curve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Precision-Recall</c:v>
                </c:pt>
              </c:strCache>
            </c:strRef>
          </c:tx>
          <c:spPr>
            <a:solidFill>
              <a:srgbClr val="F4A623"/>
            </a:solidFill>
            <a:ln w="38100" cap="flat">
              <a:solidFill>
                <a:srgbClr val="F4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623"/>
              </a:solidFill>
              <a:ln w="9525" cap="flat">
                <a:solidFill>
                  <a:srgbClr val="F4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0.97</c:v>
                </c:pt>
                <c:pt idx="2">
                  <c:v>0.93</c:v>
                </c:pt>
                <c:pt idx="3">
                  <c:v>0.9</c:v>
                </c:pt>
                <c:pt idx="4">
                  <c:v>0.87</c:v>
                </c:pt>
                <c:pt idx="5">
                  <c:v>0.84</c:v>
                </c:pt>
                <c:pt idx="6">
                  <c:v>0.8</c:v>
                </c:pt>
                <c:pt idx="7">
                  <c:v>0.74</c:v>
                </c:pt>
                <c:pt idx="8">
                  <c:v>0.66</c:v>
                </c:pt>
                <c:pt idx="9">
                  <c:v>0.55</c:v>
                </c:pt>
                <c:pt idx="10">
                  <c:v>0.4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Precision / Recall / F1 vs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A896"/>
            </a:solidFill>
            <a:ln w="254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0.3</c:v>
                  </c:pt>
                  <c:pt idx="1">
                    <c:v>0.35</c:v>
                  </c:pt>
                  <c:pt idx="2">
                    <c:v>0.4</c:v>
                  </c:pt>
                  <c:pt idx="3">
                    <c:v>0.45</c:v>
                  </c:pt>
                  <c:pt idx="4">
                    <c:v>0.5</c:v>
                  </c:pt>
                  <c:pt idx="5">
                    <c:v>0.55</c:v>
                  </c:pt>
                  <c:pt idx="6">
                    <c:v>0.6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74.2</c:v>
                </c:pt>
                <c:pt idx="1">
                  <c:v>78.1</c:v>
                </c:pt>
                <c:pt idx="2">
                  <c:v>82.3</c:v>
                </c:pt>
                <c:pt idx="3">
                  <c:v>85.7</c:v>
                </c:pt>
                <c:pt idx="4">
                  <c:v>88.4</c:v>
                </c:pt>
                <c:pt idx="5">
                  <c:v>90.2</c:v>
                </c:pt>
                <c:pt idx="6">
                  <c:v>92.1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53E3E"/>
            </a:solidFill>
            <a:ln w="2540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0.3</c:v>
                  </c:pt>
                  <c:pt idx="1">
                    <c:v>0.35</c:v>
                  </c:pt>
                  <c:pt idx="2">
                    <c:v>0.4</c:v>
                  </c:pt>
                  <c:pt idx="3">
                    <c:v>0.45</c:v>
                  </c:pt>
                  <c:pt idx="4">
                    <c:v>0.5</c:v>
                  </c:pt>
                  <c:pt idx="5">
                    <c:v>0.55</c:v>
                  </c:pt>
                  <c:pt idx="6">
                    <c:v>0.6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88.4</c:v>
                </c:pt>
                <c:pt idx="1">
                  <c:v>84.2</c:v>
                </c:pt>
                <c:pt idx="2">
                  <c:v>79.1</c:v>
                </c:pt>
                <c:pt idx="3">
                  <c:v>73.5</c:v>
                </c:pt>
                <c:pt idx="4">
                  <c:v>67.2</c:v>
                </c:pt>
                <c:pt idx="5">
                  <c:v>60.1</c:v>
                </c:pt>
                <c:pt idx="6">
                  <c:v>52.3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4A623"/>
            </a:solidFill>
            <a:ln w="25400" cap="flat">
              <a:solidFill>
                <a:srgbClr val="F4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623"/>
              </a:solidFill>
              <a:ln w="9525" cap="flat">
                <a:solidFill>
                  <a:srgbClr val="F4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0.3</c:v>
                  </c:pt>
                  <c:pt idx="1">
                    <c:v>0.35</c:v>
                  </c:pt>
                  <c:pt idx="2">
                    <c:v>0.4</c:v>
                  </c:pt>
                  <c:pt idx="3">
                    <c:v>0.45</c:v>
                  </c:pt>
                  <c:pt idx="4">
                    <c:v>0.5</c:v>
                  </c:pt>
                  <c:pt idx="5">
                    <c:v>0.55</c:v>
                  </c:pt>
                  <c:pt idx="6">
                    <c:v>0.6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80.7</c:v>
                </c:pt>
                <c:pt idx="1">
                  <c:v>81.1</c:v>
                </c:pt>
                <c:pt idx="2">
                  <c:v>80.6</c:v>
                </c:pt>
                <c:pt idx="3">
                  <c:v>79</c:v>
                </c:pt>
                <c:pt idx="4">
                  <c:v>76.5</c:v>
                </c:pt>
                <c:pt idx="5">
                  <c:v>72.8</c:v>
                </c:pt>
                <c:pt idx="6">
                  <c:v>67.6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02B5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10 Features — Global SHAP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Age</c:v>
                  </c:pt>
                  <c:pt idx="1">
                    <c:v>NumProducts</c:v>
                  </c:pt>
                  <c:pt idx="2">
                    <c:v>IsActiveMember</c:v>
                  </c:pt>
                  <c:pt idx="3">
                    <c:v>Balance</c:v>
                  </c:pt>
                  <c:pt idx="4">
                    <c:v>Geography_DE</c:v>
                  </c:pt>
                  <c:pt idx="5">
                    <c:v>CreditScore</c:v>
                  </c:pt>
                  <c:pt idx="6">
                    <c:v>Tenure</c:v>
                  </c:pt>
                  <c:pt idx="7">
                    <c:v>EstSalary</c:v>
                  </c:pt>
                  <c:pt idx="8">
                    <c:v>Gender</c:v>
                  </c:pt>
                  <c:pt idx="9">
                    <c:v>HasCrCard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0.42</c:v>
                </c:pt>
                <c:pt idx="1">
                  <c:v>0.38</c:v>
                </c:pt>
                <c:pt idx="2">
                  <c:v>0.31</c:v>
                </c:pt>
                <c:pt idx="3">
                  <c:v>0.28</c:v>
                </c:pt>
                <c:pt idx="4">
                  <c:v>0.24</c:v>
                </c:pt>
                <c:pt idx="5">
                  <c:v>0.19</c:v>
                </c:pt>
                <c:pt idx="6">
                  <c:v>0.14</c:v>
                </c:pt>
                <c:pt idx="7">
                  <c:v>0.1</c:v>
                </c:pt>
                <c:pt idx="8">
                  <c:v>0.07</c:v>
                </c:pt>
                <c:pt idx="9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Saved vs Intervention Cost (₹ 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Saved (₹L)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960</c:v>
                </c:pt>
                <c:pt idx="1">
                  <c:v>614</c:v>
                </c:pt>
                <c:pt idx="2">
                  <c:v>230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of Intervention (₹L)</c:v>
                </c:pt>
              </c:strCache>
            </c:strRef>
          </c:tx>
          <c:spPr>
            <a:solidFill>
              <a:srgbClr val="F4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</c:v>
                </c:pt>
                <c:pt idx="1">
                  <c:v>96</c:v>
                </c:pt>
                <c:pt idx="2">
                  <c:v>176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5-Fold Cross-Validation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per Fold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0.897</c:v>
                </c:pt>
                <c:pt idx="1">
                  <c:v>0.903</c:v>
                </c:pt>
                <c:pt idx="2">
                  <c:v>0.899</c:v>
                </c:pt>
                <c:pt idx="3">
                  <c:v>0.905</c:v>
                </c:pt>
                <c:pt idx="4">
                  <c:v>0.901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88"/>
        </c:scaling>
        <c:delete val="0"/>
        <c:axPos val="l"/>
        <c:majorGridlines>
          <c:spPr>
            <a:ln w="6350" cap="flat">
              <a:solidFill>
                <a:srgbClr val="1C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2B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01168"/>
            <a:ext cx="201168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2011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ChurnZero 26  |  Round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Customer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A Full-Stack Data Science Solution: Predictive Modelling + Business Impact + Retention Strategy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5029200" cy="457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3"/>
                </a:solidFill>
              </a:rPr>
              <a:t>Team Members: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◆  Kesani Sree Sai Charan Teja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30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◆  Nagi Reddy SaiBaba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005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◆  Jagriti Sharma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315968"/>
            <a:ext cx="2788920" cy="68580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4343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3"/>
                </a:solidFill>
              </a:rPr>
              <a:t>15–25%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Annual Churn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4315968"/>
            <a:ext cx="2788920" cy="68580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18688" y="4343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3"/>
                </a:solidFill>
              </a:rPr>
              <a:t>$300+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18688" y="4663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Revenue Lost /Customer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4315968"/>
            <a:ext cx="2788920" cy="68580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63056" y="4343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3"/>
                </a:solidFill>
              </a:rPr>
              <a:t>5×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63056" y="4663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Acquire vs Retain Cost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3200400"/>
            <a:ext cx="2377440" cy="2377440"/>
          </a:xfrm>
          <a:prstGeom prst="ellipse">
            <a:avLst/>
          </a:prstGeom>
          <a:solidFill>
            <a:srgbClr val="007A6E">
              <a:alpha val="2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749040"/>
            <a:ext cx="1280160" cy="128016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32688"/>
            <a:ext cx="47548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987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Problem &amp; Business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280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Why churn matters and what banks lose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932688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932688"/>
            <a:ext cx="47548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93268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48656" y="987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Exploration &amp;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48656" y="1280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Patterns, distributions, churn drivers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636776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636776"/>
            <a:ext cx="47548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63677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Derived features, encoding, selection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1728" y="1636776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1636776"/>
            <a:ext cx="47548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63677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48656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Class Imbalance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48656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SMOTE + undersampling approach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40864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340864"/>
            <a:ext cx="47548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34086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Modelling Strategy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" y="2688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Algorithm selection &amp; training pipeline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2340864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2340864"/>
            <a:ext cx="47548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34086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48656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Hyperparameter Tuning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48656" y="2688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Bayesian search + cross-validation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044952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044952"/>
            <a:ext cx="475488" cy="6217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04495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Model Results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5528" y="33924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AUC, F1, confusion matrix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81728" y="3044952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81728" y="3044952"/>
            <a:ext cx="475488" cy="6217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04495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48656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SHAP Explainability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48656" y="33924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Global &amp; local feature importance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3749040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3749040"/>
            <a:ext cx="475488" cy="6217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74904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5528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Risk Segmentation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95528" y="4096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4-tier customer risk framework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81728" y="3749040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81728" y="3749040"/>
            <a:ext cx="475488" cy="6217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74904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48656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Retention Strategies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48656" y="4096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Actionable segment-level interventions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28600" y="4453128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28600" y="4453128"/>
            <a:ext cx="475488" cy="6217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445312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95528" y="4507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Business ROI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95528" y="4800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Revenue impact, cost of intervention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81728" y="4453128"/>
            <a:ext cx="4251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81728" y="4453128"/>
            <a:ext cx="475488" cy="62179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81728" y="445312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248656" y="4507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Deployment Blueprint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248656" y="4800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to productionise the model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5E1"/>
                </a:solidFill>
              </a:rPr>
              <a:t>Banks are haemorrhaging customers silently. Without a predictive system, retention is reactive — always too late.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4434840"/>
            <a:ext cx="30175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Goal: Predict churn before it happens.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548640"/>
            <a:ext cx="5074920" cy="987552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13632" y="722376"/>
            <a:ext cx="594360" cy="5943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813816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440" y="6400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Revenue Drain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1005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15–25% annual churn = millions in lost deposits &amp; fee income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94760" y="1664208"/>
            <a:ext cx="5074920" cy="987552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913632" y="1837944"/>
            <a:ext cx="594360" cy="59436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92938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17556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CLV Erosion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3440" y="21214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High-value customers leave first, distorting the entire book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794760" y="2779776"/>
            <a:ext cx="5074920" cy="987552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13632" y="2953512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304495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28712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Reactive Banks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663440" y="32369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Churn is discovered after the fact — no early warning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794760" y="3895344"/>
            <a:ext cx="5074920" cy="987552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3632" y="4069080"/>
            <a:ext cx="594360" cy="59436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416052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63440" y="39867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Untargeted Spend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663440" y="435254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Retention budgets wasted on customers who weren't leaving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Exploration &amp; Key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606040" cy="3977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Dataset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Profile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3317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934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3"/>
                </a:solidFill>
              </a:rPr>
              <a:t>10,000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6093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93976"/>
            <a:ext cx="23317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3"/>
                </a:solidFill>
              </a:rPr>
              <a:t>20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Raw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23317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9689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3"/>
                </a:solidFill>
              </a:rPr>
              <a:t>20.4%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23317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06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3"/>
                </a:solidFill>
              </a:rPr>
              <a:t>14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0906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Numeric Cols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23317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844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3"/>
                </a:solidFill>
              </a:rPr>
              <a:t>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Categorical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23317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7822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623"/>
                </a:solidFill>
              </a:rPr>
              <a:t>0.8%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40782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Missing Data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926080" y="914400"/>
          <a:ext cx="3017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989320" y="914400"/>
          <a:ext cx="2926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926080" y="2971800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926080" y="2971800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072384" y="301752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Germany 2×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072384" y="3291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German customers churn at double the rate of France &amp; Spain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943600" y="2971800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943600" y="2971800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089904" y="301752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Age 45–65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089904" y="3291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This cohort shows the highest churn probability across all segments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926080" y="3749040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2926080" y="3749040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072384" y="379476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Inactive Flag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3072384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Inactive members churn at 27% vs 13% — strongest actionable signal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943600" y="3749040"/>
            <a:ext cx="2880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943600" y="3749040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089904" y="379476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Balance Paradox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089904" y="4069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Zero AND very-high balance customers both show elevated churn risk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EDA Deep Dive — Distribution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96012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2461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246120"/>
            <a:ext cx="64008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20624" y="3300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U-Curve Balance Effect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20624" y="35935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Both zero-balance &amp; ultra-high balance customers are at risk — different root causes need different interventions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27448" y="32461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27448" y="3246120"/>
            <a:ext cx="64008" cy="80467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73752" y="3300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Peak Risk: Age 56–65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73752" y="35935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Pre-retirement segment churns most; they seek better savings rates &amp; personalised advisory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4142232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4142232"/>
            <a:ext cx="64008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0624" y="41970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Gender Disparity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20624" y="4489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Female customers churn at 25.1% vs male at 16.5% — segmented marketing is critical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27448" y="4142232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27448" y="4142232"/>
            <a:ext cx="64008" cy="80467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73752" y="41970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Credit Score Nuance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873752" y="4489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Low credit score slightly elevates risk, but the correlation is weaker than behavioural signals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1635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816352" cy="4937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816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Derived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481328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balance_salary_ratio — wealth vs income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products_per_year — engagement velocity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clv_estimate — balance × tenure proxy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age_segment — binned risk cohort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engagement_score — composite activity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balance_zero_flag — binary zero-balance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geo_active_interact — Germany × inactive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81635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816352" cy="493776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14400"/>
            <a:ext cx="2816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Encoding Strategy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One-hot: Geography, Gender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Ordinal: Age segment (natural order)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Target encode: Product bundle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Log-transform: Balance, Salary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Standard scale: All numeric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Interaction: geo × inactive flag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Polynomial: Age² for non-linearity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14400"/>
            <a:ext cx="281635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14400"/>
            <a:ext cx="2816352" cy="49377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914400"/>
            <a:ext cx="2816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1928" y="1481328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Pearson &amp; Spearman correlation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Mutual Information (non-linear)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Recursive Feature Elimination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SHAP importance (post-model)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VIF &lt; 5 (multicollinearity)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Chi² test for categoricals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26 final features selected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4617720"/>
            <a:ext cx="274320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617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26 Final Features Passed to Model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Handling Class Imbalance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10058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429000"/>
            <a:ext cx="8595360" cy="36576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0040" y="346557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13232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Diagnose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920240" y="3474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79.6% non-churn vs 20.4% churn — significant 4:1 imbalance that biases naive models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387705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SMOTE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20240" y="3886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Synthetic Minority Oversampling generates realistic synthetic churn samples using KNN interpolation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428853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Undersample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920240" y="4297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Random undersampling of majority class to prevent over-inflation of minority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470001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13232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Validate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920240" y="4709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Ensure synthetic samples don't leak into test set — strict pipeline boundary maintained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Modelling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6002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87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3167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10K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20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56232" y="1371600"/>
            <a:ext cx="109728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960120"/>
            <a:ext cx="16002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987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Pre-process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13167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Scale, Encode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Impute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1024" y="1371600"/>
            <a:ext cx="109728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960120"/>
            <a:ext cx="1600200" cy="9601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987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SMOTE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58184" y="13167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Balance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85816" y="1371600"/>
            <a:ext cx="109728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22976" y="960120"/>
            <a:ext cx="1600200" cy="96012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22976" y="987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CV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22976" y="13167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5-Fold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Stratified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0608" y="1371600"/>
            <a:ext cx="109728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7768" y="960120"/>
            <a:ext cx="16002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7768" y="987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Ensemble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87768" y="13167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Stack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Predict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084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Models Evaluated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2496312"/>
            <a:ext cx="8595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496312"/>
            <a:ext cx="548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42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Baseline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542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AUC: 0.772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25420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F1: 0.711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852928"/>
            <a:ext cx="859536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852928"/>
            <a:ext cx="5486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98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2898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Simple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8986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AUC: 0.784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898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F1: 0.729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209544"/>
            <a:ext cx="8595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209544"/>
            <a:ext cx="54864" cy="329184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552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Strong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32552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AUC: 0.867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23760" y="32552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F1: 0.801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3566160"/>
            <a:ext cx="859536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566160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11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XGBoost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91840" y="3611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Best Single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AUC: 0.882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23760" y="3611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F1: 0.824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" y="3922776"/>
            <a:ext cx="8595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922776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968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LightGBM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91840" y="39684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Fast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60720" y="3968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AUC: 0.879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23760" y="39684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F1: 0.82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4279392"/>
            <a:ext cx="859536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279392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325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CatBoost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291840" y="4325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Robust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760720" y="4325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AUC: 0.876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223760" y="43251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F1: 0.816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74320" y="4636008"/>
            <a:ext cx="8595360" cy="329184"/>
          </a:xfrm>
          <a:prstGeom prst="rect">
            <a:avLst/>
          </a:prstGeom>
          <a:solidFill>
            <a:srgbClr val="0B1F3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636008"/>
            <a:ext cx="54864" cy="329184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81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Stacking Ensemble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291840" y="46817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3"/>
                </a:solidFill>
              </a:rPr>
              <a:t>FINAL 🏆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760720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AUC: 0.901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223760" y="46817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F1: 0.856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Hyperparameter Tuning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16352" cy="228600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1635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Grid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Advantages: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Exhaustive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All combos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3"/>
                </a:solidFill>
              </a:rPr>
              <a:t>Drawbacks: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Too slow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Not scalable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914400"/>
            <a:ext cx="2816352" cy="228600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914400"/>
            <a:ext cx="2816352" cy="45720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914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Advantages: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Faster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Good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3"/>
                </a:solidFill>
              </a:rPr>
              <a:t>Drawbacks: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Not optimal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Lucky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914400"/>
            <a:ext cx="2816352" cy="2286000"/>
          </a:xfrm>
          <a:prstGeom prst="rect">
            <a:avLst/>
          </a:prstGeom>
          <a:solidFill>
            <a:srgbClr val="102B50"/>
          </a:solidFill>
          <a:ln w="254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914400"/>
            <a:ext cx="2816352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914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Bayesian Optim.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1584" y="859536"/>
            <a:ext cx="822960" cy="2286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859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CHOSEN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91072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Advantages: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Smart sampling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Converges fast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3"/>
                </a:solidFill>
              </a:rPr>
              <a:t>Drawbacks: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91072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Complex setup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33756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Best Parameters Found — XGBoost (Base Learner)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373075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375818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n_estimators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" y="393192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400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993392" y="373075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375818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max_depth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48256" y="393192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12464" y="373075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375818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learning_rate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67328" y="393192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0.05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31536" y="373075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75818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subsample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393192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0.85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50608" y="373075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375818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colsample_bytree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05472" y="393192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0.8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" y="423367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42611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min_child_weight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9184" y="443484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993392" y="423367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48256" y="42611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gamma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48256" y="443484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0.1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12464" y="423367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42611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reg_alpha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67328" y="443484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0.05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31536" y="423367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42611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reg_lambda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0" y="443484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1.2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150608" y="4233672"/>
            <a:ext cx="1645920" cy="420624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42611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scale_pos_weight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05472" y="443484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3"/>
                </a:solidFill>
              </a:rPr>
              <a:t>3.9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Results &amp;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05740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0.901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ROC-AUC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2057400" cy="11430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960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82.3%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2057400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79.1%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Recall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2057400" cy="114300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960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80.6%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F1-Score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28600" y="2194560"/>
          <a:ext cx="42976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663440" y="2194560"/>
          <a:ext cx="4251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Confusion Matrix &amp; Threshold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Confusion Matrix (Threshold = 0.40)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Predicted 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Predicted Yes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Actual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587752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Actual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Yes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1627632"/>
            <a:ext cx="1554480" cy="9144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6276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TN: 1,521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97480" y="1627632"/>
            <a:ext cx="1554480" cy="9144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6276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FP: 71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587752"/>
            <a:ext cx="1554480" cy="91440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25877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FN: 94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697480" y="2587752"/>
            <a:ext cx="155448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25877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TP: 314</a:t>
            </a:r>
            <a:endParaRPr lang="en-US" sz="18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0" y="960120"/>
          <a:ext cx="4343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274320" y="3611880"/>
            <a:ext cx="4160520" cy="548640"/>
          </a:xfrm>
          <a:prstGeom prst="rect">
            <a:avLst/>
          </a:prstGeom>
          <a:solidFill>
            <a:srgbClr val="007A6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63931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Threshold 0.40 chosen: optimal F1 balance with higher recall for business use — catching more real churners is more valuable than false precision.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4251960"/>
            <a:ext cx="987552" cy="68580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279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23"/>
                </a:solidFill>
              </a:rPr>
              <a:t>89.2%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74320" y="46451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Accuracy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325880" y="4251960"/>
            <a:ext cx="987552" cy="68580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25880" y="4279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23"/>
                </a:solidFill>
              </a:rPr>
              <a:t>95.5%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25880" y="46451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Specificity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377440" y="4251960"/>
            <a:ext cx="987552" cy="68580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77440" y="4279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23"/>
                </a:solidFill>
              </a:rPr>
              <a:t>94.2%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2377440" y="46451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NPV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429000" y="4251960"/>
            <a:ext cx="987552" cy="685800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29000" y="42793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23"/>
                </a:solidFill>
              </a:rPr>
              <a:t>0.238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429000" y="46451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Log-Loss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Explainability — SHAP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914400"/>
          <a:ext cx="5074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14400"/>
            <a:ext cx="3429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914400"/>
            <a:ext cx="64008" cy="7315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9784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Age (0.42)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23560" y="12801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 aged 45-65 have strongly positive SHAP values — key demographic flag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719072"/>
            <a:ext cx="3429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719072"/>
            <a:ext cx="64008" cy="7315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17830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NumProducts (0.38)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23560" y="20848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3-4 products paradoxically raise churn — over-selling or misfit products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523744"/>
            <a:ext cx="3429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523744"/>
            <a:ext cx="64008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258775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IsActiveMember (0.31)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23560" y="288950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Strongest reversible driver — inactive members are immediate retention targets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328416"/>
            <a:ext cx="3429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328416"/>
            <a:ext cx="64008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339242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Geography_DE (0.24)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6941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German customers need geo-specific product and service review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4133088"/>
            <a:ext cx="3429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4133088"/>
            <a:ext cx="64008" cy="7315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41970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CreditScore (0.19)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23560" y="449884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Low scores elevate risk marginally — bundled with other signals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Churn Risk Segmentation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Model probability scores mapped to 4 actionable risk tiers for precise intervention: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8686800" cy="8412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07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Tier 1: Critical 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Churn Prob: ≥ 75%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2893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874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~800 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1371600"/>
            <a:ext cx="36576" cy="54864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325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Assign dedicated relationship manager. Personal 1:1 outreach within 48 hours. Emergency retention offer.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194560"/>
            <a:ext cx="8686800" cy="841248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Tier 2: High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</a:rPr>
              <a:t>Churn Prob: 50–74%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2494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</a:rPr>
              <a:t>12%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51760" y="2834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~1,200 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2331720"/>
            <a:ext cx="36576" cy="548640"/>
          </a:xfrm>
          <a:prstGeom prst="rect">
            <a:avLst/>
          </a:prstGeom>
          <a:solidFill>
            <a:srgbClr val="0B1F3A">
              <a:alpha val="45000"/>
            </a:srgbClr>
          </a:solidFill>
          <a:ln w="12700">
            <a:solidFill>
              <a:srgbClr val="0B1F3A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2286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</a:rPr>
              <a:t>Proactive campaign: targeted incentive, loyalty upgrade, digital re-engagement &amp; product review.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154680"/>
            <a:ext cx="8686800" cy="8412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Tier 3: Medium Risk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3593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Churn Prob: 25–49%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2095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22%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651760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~2,200 customers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3291840"/>
            <a:ext cx="36576" cy="54864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7952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Monitor &amp; nurture: personalised product recommendations, lifestyle banking tips, soft-touch email sequence.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114800"/>
            <a:ext cx="8686800" cy="841248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4187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Tier 4: Low Risk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Churn Prob: &lt; 25%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41696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BD5E1"/>
                </a:solidFill>
              </a:rPr>
              <a:t>58%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2651760" y="4754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~5,800 customers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4251960"/>
            <a:ext cx="36576" cy="548640"/>
          </a:xfrm>
          <a:prstGeom prst="rect">
            <a:avLst/>
          </a:prstGeom>
          <a:solidFill>
            <a:srgbClr val="CBD5E1">
              <a:alpha val="45000"/>
            </a:srgbClr>
          </a:solidFill>
          <a:ln w="12700">
            <a:solidFill>
              <a:srgbClr val="CBD5E1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4206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Maintain quality: standard engagement, cross-sell pipeline, annual satisfaction check.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Data-Driven Retention Strategies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024128"/>
            <a:ext cx="594360" cy="59436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15568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03320" y="1005840"/>
            <a:ext cx="658368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03320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 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515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Relationship Manager Outreach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51560" y="138988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Dedicated RM assigned to each Tier 1 customer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Personalised call script based on SHAP driver profile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Retention offer: rate match or fee waiver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81728" y="914400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91456" y="1024128"/>
            <a:ext cx="594360" cy="594360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115568"/>
            <a:ext cx="402336" cy="402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56448" y="1005840"/>
            <a:ext cx="658368" cy="25603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5644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 1-2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504688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Loyalty &amp; Rewards Programme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504688" y="138988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Upgrade to Platinum tier for at-risk high-value customers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Cashback on primary spending categories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Milestone bonuses for 12-month tenure extension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28600" y="2304288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38328" y="2414016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505456"/>
            <a:ext cx="402336" cy="4023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703320" y="2395728"/>
            <a:ext cx="65836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03320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 2-3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05156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Digital Re-engagement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051560" y="277977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Push notifications with personalised nudges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App-based financial health score and tips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Monthly insights report emailed to customer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81728" y="2304288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91456" y="2414016"/>
            <a:ext cx="594360" cy="594360"/>
          </a:xfrm>
          <a:prstGeom prst="ellipse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505456"/>
            <a:ext cx="402336" cy="40233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156448" y="2395728"/>
            <a:ext cx="658368" cy="256032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156448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 2-3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5504688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Product Right-Sizing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504688" y="277977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Review over-producted customers (3-4 products)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Simplify to core 1-2 products that match need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Cross-sell relevant product at right life stage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28600" y="3694176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38328" y="3803904"/>
            <a:ext cx="594360" cy="5943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895344"/>
            <a:ext cx="402336" cy="40233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703320" y="3785616"/>
            <a:ext cx="658368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703320" y="3785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 1-2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051560" y="37856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Exit Intent Survey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051560" y="4169664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Triggered when customer views account closure page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Real-time flag to RM for immediate intervention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Automated 5-min callback scheduling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681728" y="3694176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91456" y="3803904"/>
            <a:ext cx="594360" cy="59436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895344"/>
            <a:ext cx="402336" cy="402336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156448" y="3785616"/>
            <a:ext cx="658368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156448" y="3785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 Tiers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5504688" y="37856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Germany-Specific Programme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5504688" y="4169664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Geo-targeted messaging in German language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Investigate product-market fit gaps in DE market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Local branch manager accountability for churn rate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Impact &amp; ROI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384048"/>
          </a:xfrm>
          <a:prstGeom prst="rect">
            <a:avLst/>
          </a:prstGeom>
          <a:solidFill>
            <a:srgbClr val="007A6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Assumptions: 10,000 customers | Avg CLV = ₹3.2L | Intervention cost = ₹800/customer | Retention rate if intervened = 35%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2816352" cy="1097280"/>
          </a:xfrm>
          <a:prstGeom prst="rect">
            <a:avLst/>
          </a:prstGeom>
          <a:solidFill>
            <a:srgbClr val="102B50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89888"/>
            <a:ext cx="2816352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499616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E3E"/>
                </a:solidFill>
              </a:rPr>
              <a:t>2,040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08483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Predicted Churners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(Model-identified)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389888"/>
            <a:ext cx="2816352" cy="1097280"/>
          </a:xfrm>
          <a:prstGeom prst="rect">
            <a:avLst/>
          </a:prstGeom>
          <a:solidFill>
            <a:srgbClr val="102B50"/>
          </a:solidFill>
          <a:ln w="1905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389888"/>
            <a:ext cx="2816352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499616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623"/>
                </a:solidFill>
              </a:rPr>
              <a:t>714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72968" y="208483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Churners Retained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(35% success rate)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89888"/>
            <a:ext cx="2816352" cy="1097280"/>
          </a:xfrm>
          <a:prstGeom prst="rect">
            <a:avLst/>
          </a:prstGeom>
          <a:solidFill>
            <a:srgbClr val="102B5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89888"/>
            <a:ext cx="2816352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499616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₹22.8 Cr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17336" y="208483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Revenue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(714 × ₹3.2L)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2816352" cy="1097280"/>
          </a:xfrm>
          <a:prstGeom prst="rect">
            <a:avLst/>
          </a:prstGeom>
          <a:solidFill>
            <a:srgbClr val="102B50"/>
          </a:solidFill>
          <a:ln w="1905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78608"/>
            <a:ext cx="2816352" cy="73152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688336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A6E"/>
                </a:solidFill>
              </a:rPr>
              <a:t>₹57.1L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28600" y="32735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Intervention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(714 × ₹800)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2578608"/>
            <a:ext cx="2816352" cy="1097280"/>
          </a:xfrm>
          <a:prstGeom prst="rect">
            <a:avLst/>
          </a:prstGeom>
          <a:solidFill>
            <a:srgbClr val="102B50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578608"/>
            <a:ext cx="2816352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2688336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A169"/>
                </a:solidFill>
              </a:rPr>
              <a:t>₹22.3 Cr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172968" y="32735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Net Benefit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(Revenue – Cost)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2578608"/>
            <a:ext cx="2816352" cy="1097280"/>
          </a:xfrm>
          <a:prstGeom prst="rect">
            <a:avLst/>
          </a:prstGeom>
          <a:solidFill>
            <a:srgbClr val="102B50"/>
          </a:solidFill>
          <a:ln w="1905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2578608"/>
            <a:ext cx="2816352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2688336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623"/>
                </a:solidFill>
              </a:rPr>
              <a:t>39×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17336" y="32735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Return on Investment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(ROI Ratio)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4645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4A623"/>
                </a:solidFill>
              </a:rPr>
              <a:t>Even at 20% retention success, the model delivers ₹6.4 Cr net benefit — a clear positive case for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Cost-Benefit Analysis by Tier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0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Segment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779008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9008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Size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54496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54496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Ret. Rate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729984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9984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Retained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205472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05472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Cost/Cust.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680960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Cost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156448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56448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Rev. Saved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631936" y="914400"/>
            <a:ext cx="4572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31936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ROI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303520" y="1417320"/>
            <a:ext cx="36118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Tier-Level Cost &amp; Return Summary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49240" y="1828800"/>
            <a:ext cx="3520440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1883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Tier 1 (Critical)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40680" y="21762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304 retained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78040" y="1883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ROI: 49×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78040" y="21762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₹960L saved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349240" y="2606040"/>
            <a:ext cx="35204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Tier 2 (High)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40680" y="2953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384 retained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178040" y="2660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ROI: 6.4×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178040" y="2953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₹614L saved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349240" y="3383280"/>
            <a:ext cx="3520440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0680" y="3438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Tier 3 (Medium)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440680" y="37307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330 retained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178040" y="3438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ROI: 3×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37307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₹528L saved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349240" y="4160520"/>
            <a:ext cx="3520440" cy="713232"/>
          </a:xfrm>
          <a:prstGeom prst="rect">
            <a:avLst/>
          </a:prstGeom>
          <a:solidFill>
            <a:srgbClr val="0B1F3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40680" y="4215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440680" y="45079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1,018 retained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178040" y="4215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3"/>
                </a:solidFill>
              </a:rPr>
              <a:t>ROI: 12×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178040" y="45079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₹2.1 Cr saved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4320" y="4187952"/>
            <a:ext cx="5029200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365760" y="422452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4A623"/>
                </a:solidFill>
              </a:rPr>
              <a:t>Bottom Line: For every ₹1 spent on model-driven retention, the bank earns back ₹12 in prevented churn losses.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Deployment Blueprint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29968" cy="3858768"/>
          </a:xfrm>
          <a:prstGeom prst="rect">
            <a:avLst/>
          </a:prstGeom>
          <a:solidFill>
            <a:srgbClr val="102B50"/>
          </a:solidFill>
          <a:ln w="1270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29968" cy="50292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2435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23544" y="1627632"/>
            <a:ext cx="640080" cy="640080"/>
          </a:xfrm>
          <a:prstGeom prst="ellipse">
            <a:avLst/>
          </a:prstGeom>
          <a:solidFill>
            <a:srgbClr val="007A6E">
              <a:alpha val="70000"/>
            </a:srgbClr>
          </a:solidFill>
          <a:ln w="12700">
            <a:solidFill>
              <a:srgbClr val="007A6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1907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8328" y="237744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Daily ETL from core banking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Feature computation &amp; storage in feature store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Data quality checks &amp; drift monitoring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04872" y="1005840"/>
            <a:ext cx="2029968" cy="3858768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04872" y="1005840"/>
            <a:ext cx="202996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04872" y="10058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04872" y="12435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Serving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99816" y="1627632"/>
            <a:ext cx="640080" cy="64008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71907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237744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Model serialised via MLflow registry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REST API endpoint for real-time scoring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Batch scoring for weekly risk refresh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81144" y="1005840"/>
            <a:ext cx="2029968" cy="3858768"/>
          </a:xfrm>
          <a:prstGeom prst="rect">
            <a:avLst/>
          </a:prstGeom>
          <a:solidFill>
            <a:srgbClr val="102B50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81144" y="1005840"/>
            <a:ext cx="2029968" cy="5029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81144" y="10058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81144" y="12435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CRM Integration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276088" y="1627632"/>
            <a:ext cx="640080" cy="640080"/>
          </a:xfrm>
          <a:prstGeom prst="ellipse">
            <a:avLst/>
          </a:prstGeom>
          <a:solidFill>
            <a:srgbClr val="F4A623">
              <a:alpha val="70000"/>
            </a:srgbClr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71907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90872" y="237744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Risk scores pushed to Salesforce/CRM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Tier-based alert triggers for RM team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Automated campaign triggers via marketing tool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57416" y="1005840"/>
            <a:ext cx="2029968" cy="3858768"/>
          </a:xfrm>
          <a:prstGeom prst="rect">
            <a:avLst/>
          </a:prstGeom>
          <a:solidFill>
            <a:srgbClr val="102B50"/>
          </a:solidFill>
          <a:ln w="1270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57416" y="1005840"/>
            <a:ext cx="2029968" cy="50292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757416" y="10058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757416" y="12435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 &amp; Retraining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452360" y="1627632"/>
            <a:ext cx="640080" cy="640080"/>
          </a:xfrm>
          <a:prstGeom prst="ellipse">
            <a:avLst/>
          </a:prstGeom>
          <a:solidFill>
            <a:srgbClr val="007A6E">
              <a:alpha val="70000"/>
            </a:srgbClr>
          </a:solidFill>
          <a:ln w="12700">
            <a:solidFill>
              <a:srgbClr val="007A6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19072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67144" y="2377440"/>
            <a:ext cx="1810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Weekly AUC check on live predictions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PSI monitoring for feature drift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Quarterly model retraining on fresh data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0" y="4791456"/>
            <a:ext cx="9144000" cy="370332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0" y="4791456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Tech Stack:  Python · XGBoost · scikit-learn · SHAP · MLflow · FastAPI · Docker · PostgreSQL · Airflow · Grafana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Ethical Considerations &amp; Fairness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2519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61288"/>
            <a:ext cx="658368" cy="6583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7101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24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Data Privacy &amp; Consent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 customer data anonymised. PII stripped before modelling. Model deployed within RBI data governance framework. DPDP Act 2023 compliance ensured.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96012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960120"/>
            <a:ext cx="425196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1161288"/>
            <a:ext cx="658368" cy="658368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71016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87568" y="1124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Algorithmic Fairness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64608" y="1920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Demographic parity checked across gender and geography. No protected attribute used as direct feature. Disparate impact test run on model outputs.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" y="306324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3063240"/>
            <a:ext cx="4251960" cy="73152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3264408"/>
            <a:ext cx="658368" cy="658368"/>
          </a:xfrm>
          <a:prstGeom prst="ellipse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374136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Model Transparency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11480" y="4023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SHAP explanations provided for every prediction. Business teams get natural-language reason codes. Customers can request explanation of any action taken.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81728" y="3063240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81728" y="3063240"/>
            <a:ext cx="425196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64608" y="3264408"/>
            <a:ext cx="658368" cy="65836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74136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87568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Responsible Retention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864608" y="4023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Retention offers are genuinely valuable — not manipulative. Customers have opt-out rights. No differential pricing based purely on churn score.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Limitations &amp; Future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</a:rPr>
              <a:t>Current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768096"/>
          </a:xfrm>
          <a:prstGeom prst="rect">
            <a:avLst/>
          </a:prstGeom>
          <a:solidFill>
            <a:srgbClr val="102B50"/>
          </a:solidFill>
          <a:ln w="63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54864" cy="7680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35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 Snapshot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Model trained on point-in-time data; doesn't capture behavioural trajectories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768096"/>
          </a:xfrm>
          <a:prstGeom prst="rect">
            <a:avLst/>
          </a:prstGeom>
          <a:solidFill>
            <a:srgbClr val="102B50"/>
          </a:solidFill>
          <a:ln w="63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54864" cy="7680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Transaction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624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Richer signals like transaction frequency &amp; channel activity not available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4114800" cy="768096"/>
          </a:xfrm>
          <a:prstGeom prst="rect">
            <a:avLst/>
          </a:prstGeom>
          <a:solidFill>
            <a:srgbClr val="102B50"/>
          </a:solidFill>
          <a:ln w="63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08960"/>
            <a:ext cx="54864" cy="7680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72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Synthetic Balance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493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SMOTE creates synthetic data — may not perfectly represent true minority patterns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4114800" cy="768096"/>
          </a:xfrm>
          <a:prstGeom prst="rect">
            <a:avLst/>
          </a:prstGeom>
          <a:solidFill>
            <a:srgbClr val="102B50"/>
          </a:solidFill>
          <a:ln w="63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77640"/>
            <a:ext cx="54864" cy="7680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 Market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361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Tested only on this dataset; generalisation across banks not validated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Future Roadmap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160520" cy="621792"/>
          </a:xfrm>
          <a:prstGeom prst="rect">
            <a:avLst/>
          </a:prstGeom>
          <a:solidFill>
            <a:srgbClr val="102B50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9744" y="1517904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14264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Survival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16916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Time-to-churn prediction using Cox PH &amp; Kaplan-Meier 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084832"/>
            <a:ext cx="4160520" cy="621792"/>
          </a:xfrm>
          <a:prstGeom prst="rect">
            <a:avLst/>
          </a:prstGeom>
          <a:solidFill>
            <a:srgbClr val="102B50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9744" y="2231136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21396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NLP on Complaints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2404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Sentiment analysis on call logs &amp; support tickets as churn signals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798064"/>
            <a:ext cx="4160520" cy="621792"/>
          </a:xfrm>
          <a:prstGeom prst="rect">
            <a:avLst/>
          </a:prstGeom>
          <a:solidFill>
            <a:srgbClr val="102B50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294436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28529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 Neural Networks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3118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Leverage referral &amp; co-holder network structures for social churn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511296"/>
            <a:ext cx="4160520" cy="621792"/>
          </a:xfrm>
          <a:prstGeom prst="rect">
            <a:avLst/>
          </a:prstGeom>
          <a:solidFill>
            <a:srgbClr val="102B50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9744" y="365760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35661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Online Learning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30368" y="38313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Incremental model updates as new customer data arrives daily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224528"/>
            <a:ext cx="4160520" cy="621792"/>
          </a:xfrm>
          <a:prstGeom prst="rect">
            <a:avLst/>
          </a:prstGeom>
          <a:solidFill>
            <a:srgbClr val="102B50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9744" y="4370832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4279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A/B Testing Framework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30368" y="45445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Randomised control trial to measure true retention campaign lift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Repository &amp; Reproducibility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Repository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480560" cy="3493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churnzero26/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📄 README.md              ← Setup &amp; reproduction steps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📁 data/                  ← Raw &amp; processed datasets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📁 notebooks/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├── 01_EDA.ipynb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├── 02_Feature_Eng.ipynb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└── 03_Modelling.ipynb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📁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├── preprocess.py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├── train.py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└── predict.py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📁 models/                ← Serialised model artefacts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📁 outputs/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└── predictions.csv      ← Test set predictions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requirements.txt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Reproduction Steps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388620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140817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58968" y="1362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Clone Repo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58968" y="1563624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&lt;github-url&gt; &amp;&amp; cd churnzero26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847088"/>
            <a:ext cx="38862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929384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58968" y="18836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58968" y="2084832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368296"/>
            <a:ext cx="388620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450592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58968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Place 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58968" y="260604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dataset CSV to data/raw/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889504"/>
            <a:ext cx="38862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29718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58968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Run EDA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312724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notebook notebooks/01_EDA.ipynb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410712"/>
            <a:ext cx="388620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349300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58968" y="3447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58968" y="364845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src/preprocess.py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0" y="3931920"/>
            <a:ext cx="38862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401421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58968" y="39684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Train Model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8968" y="4169664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src/train.py --config config.yml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0" y="4453128"/>
            <a:ext cx="3886200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4535424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4535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58968" y="44897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Generate Predictions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58968" y="4690872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src/predict.py → outputs/predictions.csv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115568"/>
            <a:ext cx="658368" cy="6583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22529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69080" y="1033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1051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Excellence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417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Stacking ensemble achieves AUC 0.901 — outperforming every single model. SMOTE+tuning unlocked full potential.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81728" y="960120"/>
            <a:ext cx="4251960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1115568"/>
            <a:ext cx="658368" cy="658368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22529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22208" y="1033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596128" y="1051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Explainable &amp; Actionable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96128" y="1417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SHAP analysis translates black-box predictions into human-readable driver profiles for every at-risk customer.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28600" y="2313432"/>
            <a:ext cx="4251960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8328" y="2468880"/>
            <a:ext cx="658368" cy="658368"/>
          </a:xfrm>
          <a:prstGeom prst="ellipse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578608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6908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A6E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43000" y="24048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Segment-Level Precision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27706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4-tier risk framework ensures right intervention, right customer, right cost — no budget wasted on low-risk base.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81728" y="2313432"/>
            <a:ext cx="4251960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91456" y="2468880"/>
            <a:ext cx="658368" cy="658368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578608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22208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A169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596128" y="24048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Proven Business ROI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96128" y="27706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Model-driven retention delivers 39× ROI at Tier 1 — ₹22.8 Cr revenue protected vs ₹57L intervention spend.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3666744"/>
            <a:ext cx="4251960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8328" y="3822192"/>
            <a:ext cx="658368" cy="658368"/>
          </a:xfrm>
          <a:prstGeom prst="ellipse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931920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69080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623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43000" y="37581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Production-Ready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143000" y="4123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MLflow + FastAPI + Docker blueprint enables bank to deploy within 6 weeks. Monitoring &amp; retraining cadence defined.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681728" y="3666744"/>
            <a:ext cx="4251960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91456" y="3822192"/>
            <a:ext cx="658368" cy="6583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931920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522208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596128" y="37581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Responsible AI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596128" y="4123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Fairness audited, DPDP compliant, fully explainable outputs. Built to operate within real banking constraints.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Our Approach Stands 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16352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Criteria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72968" y="960120"/>
            <a:ext cx="2816352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96012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Typical Approach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17336" y="960120"/>
            <a:ext cx="2816352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17336" y="96012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Approach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Algorithm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4173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Single ML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1417320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4173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Stacked ensemble — best of all worlds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892808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928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Imbalance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72968" y="1892808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8928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Ignore or oversample naively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1892808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8928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SMOTE + undersampling + threshold tuning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368296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682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368296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3682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Black box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17336" y="2368296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23682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SHAP for every customer prediction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843784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Output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72968" y="2843784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Churn flag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17336" y="2843784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4-tier segment + personalised intervention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3319272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1927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ROI Quantified?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72968" y="3319272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331927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17336" y="3319272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331927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Yes — ₹22.8 Cr revenue protected modelled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3794760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794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Deployment Plan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72968" y="3794760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3794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Not considered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17336" y="3794760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8776" y="3794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MLOps blueprint included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4270248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27024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Ethics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172968" y="4270248"/>
            <a:ext cx="28163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64408" y="427024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Not addressed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17336" y="4270248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427024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Fairness audit + DPDP compliance built in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28600" y="4745736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7457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Threshold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172968" y="4745736"/>
            <a:ext cx="2816352" cy="45720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64408" y="47457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Default 0.5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17336" y="4745736"/>
            <a:ext cx="2816352" cy="457200"/>
          </a:xfrm>
          <a:prstGeom prst="rect">
            <a:avLst/>
          </a:prstGeom>
          <a:solidFill>
            <a:srgbClr val="00A89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08776" y="47457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Optimised at 0.40 for recall maximisation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Robustness &amp; Validation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960120"/>
            <a:ext cx="1719072" cy="1188720"/>
          </a:xfrm>
          <a:prstGeom prst="rect">
            <a:avLst/>
          </a:prstGeom>
          <a:solidFill>
            <a:srgbClr val="102B5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0680" y="1051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</a:rPr>
              <a:t>0.901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40680" y="16002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 AUC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40680" y="18745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Across 5 folds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40680" y="2258568"/>
            <a:ext cx="1719072" cy="1188720"/>
          </a:xfrm>
          <a:prstGeom prst="rect">
            <a:avLst/>
          </a:prstGeom>
          <a:solidFill>
            <a:srgbClr val="102B50"/>
          </a:solidFill>
          <a:ln w="1905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40680" y="23500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623"/>
                </a:solidFill>
              </a:rPr>
              <a:t>±0.003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40680" y="28986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Std Dev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40680" y="31729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Extremely stable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960120"/>
            <a:ext cx="1719072" cy="1188720"/>
          </a:xfrm>
          <a:prstGeom prst="rect">
            <a:avLst/>
          </a:prstGeom>
          <a:solidFill>
            <a:srgbClr val="102B50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69480" y="1051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A169"/>
                </a:solidFill>
              </a:rPr>
              <a:t>0.007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269480" y="16002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Train–Test Gap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69480" y="18745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No overfitting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2258568"/>
            <a:ext cx="1719072" cy="1188720"/>
          </a:xfrm>
          <a:prstGeom prst="rect">
            <a:avLst/>
          </a:prstGeom>
          <a:solidFill>
            <a:srgbClr val="102B50"/>
          </a:solidFill>
          <a:ln w="19050">
            <a:solidFill>
              <a:srgbClr val="00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69480" y="23500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6E"/>
                </a:solidFill>
              </a:rPr>
              <a:t>0.889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269480" y="28986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OOT Test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31729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Out-of-time hold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4320" y="365760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Feature Stability Across Folds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74320" y="4041648"/>
            <a:ext cx="1645920" cy="804672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Age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4389120"/>
            <a:ext cx="13030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91640" y="44074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</a:rPr>
              <a:t>95%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93392" y="4041648"/>
            <a:ext cx="1645920" cy="804672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93392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NumOfProducts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130552" y="4389120"/>
            <a:ext cx="126187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0712" y="44074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</a:rPr>
              <a:t>92%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712464" y="4041648"/>
            <a:ext cx="1645920" cy="804672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12464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IsActiveMember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849624" y="4389120"/>
            <a:ext cx="128930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9784" y="44074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</a:rPr>
              <a:t>94%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31536" y="4041648"/>
            <a:ext cx="1645920" cy="804672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31536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Balance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68696" y="4389120"/>
            <a:ext cx="1248156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48856" y="44074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</a:rPr>
              <a:t>91%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150608" y="4041648"/>
            <a:ext cx="1645920" cy="804672"/>
          </a:xfrm>
          <a:prstGeom prst="rect">
            <a:avLst/>
          </a:prstGeom>
          <a:solidFill>
            <a:srgbClr val="102B50"/>
          </a:solidFill>
          <a:ln w="6350">
            <a:solidFill>
              <a:srgbClr val="007A6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50608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Geography_DE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287768" y="4389120"/>
            <a:ext cx="1234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67928" y="44074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623"/>
                </a:solidFill>
              </a:rPr>
              <a:t>90%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At-Risk Customer Journey &amp; Intervention 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664208" cy="47548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012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" y="1554480"/>
            <a:ext cx="640080" cy="640080"/>
          </a:xfrm>
          <a:prstGeom prst="ellipse">
            <a:avLst/>
          </a:prstGeom>
          <a:solidFill>
            <a:srgbClr val="38A169">
              <a:alpha val="70000"/>
            </a:srgbClr>
          </a:solidFill>
          <a:ln w="12700">
            <a:solidFill>
              <a:srgbClr val="38A16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331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Signals: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25786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Regular transactions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Multiple products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App logins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" y="3493008"/>
            <a:ext cx="1508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Action: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3794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action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Maintain quality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47672" y="960120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47672" y="960120"/>
            <a:ext cx="1664208" cy="475488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47672" y="96012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Drifting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459736" y="1554480"/>
            <a:ext cx="640080" cy="640080"/>
          </a:xfrm>
          <a:prstGeom prst="ellipse">
            <a:avLst/>
          </a:prstGeom>
          <a:solidFill>
            <a:srgbClr val="F4A623">
              <a:alpha val="70000"/>
            </a:srgbClr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6459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39112" y="2331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Signals: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039112" y="25786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Declining logins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No new products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Fee complaints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020824" y="3493008"/>
            <a:ext cx="1508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039112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3"/>
                </a:solidFill>
              </a:rPr>
              <a:t>Action: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039112" y="3794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Early nudge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Digital re-engage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712464" y="960120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712464" y="960120"/>
            <a:ext cx="1664208" cy="475488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12464" y="96012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At Risk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224528" y="1554480"/>
            <a:ext cx="640080" cy="640080"/>
          </a:xfrm>
          <a:prstGeom prst="ellipse">
            <a:avLst/>
          </a:prstGeom>
          <a:solidFill>
            <a:srgbClr val="F4A623">
              <a:alpha val="70000"/>
            </a:srgbClr>
          </a:solidFill>
          <a:ln w="12700">
            <a:solidFill>
              <a:srgbClr val="F4A62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64592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03904" y="2331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Signals: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803904" y="25786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Inactivity flag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Balance withdrawn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Contacted support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785616" y="3493008"/>
            <a:ext cx="1508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03904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3"/>
                </a:solidFill>
              </a:rPr>
              <a:t>Action: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3803904" y="3794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Personalised offer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RM outreach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477256" y="960120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477256" y="960120"/>
            <a:ext cx="1664208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77256" y="96012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Critical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5989320" y="1554480"/>
            <a:ext cx="640080" cy="640080"/>
          </a:xfrm>
          <a:prstGeom prst="ellipse">
            <a:avLst/>
          </a:prstGeom>
          <a:solidFill>
            <a:srgbClr val="E53E3E">
              <a:alpha val="70000"/>
            </a:srgbClr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4592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568696" y="2331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Signals: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568696" y="25786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Views closure page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Transfers out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Silence &gt; 60d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550408" y="3493008"/>
            <a:ext cx="1508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568696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Action: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568696" y="3794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Immediate 1:1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Emergency offer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242048" y="960120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7242048" y="960120"/>
            <a:ext cx="1664208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242048" y="96012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Churned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7754112" y="1554480"/>
            <a:ext cx="640080" cy="640080"/>
          </a:xfrm>
          <a:prstGeom prst="ellipse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1645920"/>
            <a:ext cx="457200" cy="45720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333488" y="2331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Signals: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7333488" y="25786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Account closed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Moved bank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No activity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7315200" y="3493008"/>
            <a:ext cx="1508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7333488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Action: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7333488" y="3794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Win-back campaign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(3-6 months later)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Roadmap — 6 Month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82296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221284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18288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Month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38528" y="221284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Month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84448" y="221284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Month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221284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Month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76288" y="221284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Month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22208" y="221284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2220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Month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-292608" y="914400"/>
            <a:ext cx="1499616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-292608" y="914400"/>
            <a:ext cx="1499616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-292608" y="914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&amp; EDA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-256032" y="1225296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Data audit &amp; profiling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EDA report &amp; findings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Stakeholder alignment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53312" y="2926080"/>
            <a:ext cx="1499616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53312" y="2926080"/>
            <a:ext cx="1499616" cy="2743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926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Eng.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89888" y="3236976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Feature derivation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Encoding pipeline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Selection &amp; finalization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99232" y="914400"/>
            <a:ext cx="1499616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99232" y="914400"/>
            <a:ext cx="1499616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914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Modelling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35808" y="1225296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Baseline models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Ensemble training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Hyperparameter tuning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45152" y="2926080"/>
            <a:ext cx="1499616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45152" y="2926080"/>
            <a:ext cx="1499616" cy="2743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2926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3236976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OOT validation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Fairness audit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SHAP analysis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91072" y="914400"/>
            <a:ext cx="1499616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91072" y="914400"/>
            <a:ext cx="1499616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914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27648" y="1225296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CRM integration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API deployment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Pilot with 1,000 customers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936992" y="2926080"/>
            <a:ext cx="1499616" cy="1234440"/>
          </a:xfrm>
          <a:prstGeom prst="rect">
            <a:avLst/>
          </a:prstGeom>
          <a:solidFill>
            <a:srgbClr val="102B50"/>
          </a:solidFill>
          <a:ln w="10160">
            <a:solidFill>
              <a:srgbClr val="F4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936992" y="2926080"/>
            <a:ext cx="1499616" cy="2743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29260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73568" y="3236976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Full rollout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Monitoring live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</a:rPr>
              <a:t>Quarterly retraining cadence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"/>
            <a:ext cx="196596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ChurnZero 26  |  Round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</a:rPr>
              <a:t>Banking Churn Prediction — Built to Save Real Revenue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5943600" cy="4572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87168"/>
            <a:ext cx="1993392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5237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AUC 0.901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Stacking Ensemble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487168"/>
            <a:ext cx="1993392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5237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₹22.8 Cr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Revenue Protected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487168"/>
            <a:ext cx="1993392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5237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39×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ROI at Tier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2487168"/>
            <a:ext cx="1993392" cy="822960"/>
          </a:xfrm>
          <a:prstGeom prst="rect">
            <a:avLst/>
          </a:prstGeom>
          <a:solidFill>
            <a:srgbClr val="102B5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5237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623"/>
                </a:solidFill>
              </a:rPr>
              <a:t>6 Weeks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28895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To Deployment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4564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Our Team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" y="3840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Kesani Sree Sai Charan Teja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384048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21024" y="3840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Nagi Reddy SaiBaba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84048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55664" y="3840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Jagriti Sharma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1463040"/>
            <a:ext cx="2194560" cy="2194560"/>
          </a:xfrm>
          <a:prstGeom prst="ellipse">
            <a:avLst/>
          </a:prstGeom>
          <a:solidFill>
            <a:srgbClr val="007A6E">
              <a:alpha val="18000"/>
            </a:srgbClr>
          </a:solidFill>
          <a:ln w="12700">
            <a:solidFill>
              <a:srgbClr val="00A896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2011680"/>
            <a:ext cx="1097280" cy="1097280"/>
          </a:xfrm>
          <a:prstGeom prst="ellipse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ChurnZero 26 – Banking Churn Prediction</dc:title>
  <dc:subject>PptxGenJS Presentation</dc:subject>
  <dc:creator>PptxGenJS</dc:creator>
  <cp:lastModifiedBy>PptxGenJS</cp:lastModifiedBy>
  <cp:revision>1</cp:revision>
  <dcterms:created xsi:type="dcterms:W3CDTF">2026-05-22T09:14:45Z</dcterms:created>
  <dcterms:modified xsi:type="dcterms:W3CDTF">2026-05-22T09:14:45Z</dcterms:modified>
</cp:coreProperties>
</file>